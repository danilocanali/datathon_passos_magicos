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DaniloCanali/datathon_passos_magico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🔮 PASSOS MÁGICOS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Análise de Dados PEDE e Modelo Preditivo de Risco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200400" y="3017520"/>
            <a:ext cx="27432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Datathon PosTech FIAP - Data Analytics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Transformando vidas através da educação e análise de dados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🏫 A Associação Passos Mágicos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457200" y="118872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32 anos de atuação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transformando vidas de crianças e jovens em Embu-Guaçu, SP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None/>
            </a:pPr>
            <a:br>
              <a:rPr b="0" i="0" lang="en-US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 fórmula mágica inclui: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📚 Educação de qualidade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🧠 Auxílio psicológico/psicopedagógico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🌍 Ampliação de visão de mundo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🌟 Protagonismo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943600" y="1188720"/>
            <a:ext cx="2743200" cy="25603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5943600" y="13716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PEDE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035040" y="182880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Pesquisa Extensiva do Desenvolvimento Educacional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943600" y="292608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860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alunos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🎯 O Desafio do Datathon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457200" y="1280160"/>
            <a:ext cx="2651760" cy="228600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76200" rotWithShape="0" algn="bl" dir="162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457200" y="1280160"/>
            <a:ext cx="73152" cy="2286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640080" y="146304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640080" y="20116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Análise Exploratória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640080" y="246888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Responder 10 perguntas de negócio sobre os indicadores PEDE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3291840" y="1280160"/>
            <a:ext cx="2651760" cy="228600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76200" rotWithShape="0" algn="bl" dir="162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3291840" y="1280160"/>
            <a:ext cx="73152" cy="2286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3474720" y="146304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3474720" y="20116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Modelo Preditivo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3474720" y="246888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Identificar alunos em risco de defasagem educacional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126480" y="1280160"/>
            <a:ext cx="2651760" cy="228600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76200" rotWithShape="0" algn="bl" dir="162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6126480" y="1280160"/>
            <a:ext cx="73152" cy="2286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6309360" y="146304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💻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309360" y="20116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Aplicação Web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309360" y="246888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Disponibilizar modelo via Streamlit para uso da equipe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077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2E5077"/>
                </a:solidFill>
                <a:latin typeface="Arial"/>
                <a:ea typeface="Arial"/>
                <a:cs typeface="Arial"/>
                <a:sym typeface="Arial"/>
              </a:rPr>
              <a:t>Indicadores analisados: IAA, IEG, IPS, IDA, IPV, IAN, IPP, INDE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💡 Principais Descobertas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457200" y="1188720"/>
            <a:ext cx="2011680" cy="1188720"/>
          </a:xfrm>
          <a:prstGeom prst="rect">
            <a:avLst/>
          </a:prstGeom>
          <a:solidFill>
            <a:srgbClr val="4CAF50"/>
          </a:solidFill>
          <a:ln>
            <a:noFill/>
          </a:ln>
          <a:effectLst>
            <a:outerShdw blurRad="76200" rotWithShape="0" algn="bl" dir="162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457200" y="12801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69.9%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457200" y="19202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acima do nível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2606040" y="1188720"/>
            <a:ext cx="2011680" cy="11887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606040" y="12801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7.04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2606040" y="19202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INDE médio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4754880" y="1188720"/>
            <a:ext cx="2011680" cy="118872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76200" rotWithShape="0" algn="bl" dir="162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4754880" y="12801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0.80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754880" y="19202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correlação IEG-INDE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6903720" y="1188720"/>
            <a:ext cx="2011680" cy="1188720"/>
          </a:xfrm>
          <a:prstGeom prst="rect">
            <a:avLst/>
          </a:prstGeom>
          <a:solidFill>
            <a:srgbClr val="2E5077"/>
          </a:solidFill>
          <a:ln>
            <a:noFill/>
          </a:ln>
          <a:effectLst>
            <a:outerShdw blurRad="76200" rotWithShape="0" algn="bl" dir="162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6903720" y="12801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13.1%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6903720" y="19202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Ponto de Virada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457200" y="2651760"/>
            <a:ext cx="73152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640080" y="274320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Engajamento é Chave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640080" y="306324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IEG tem correlação forte (0.80) com INDE. Alunos que atingem PV têm IEG 1.3 pontos maior.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457200" y="3703320"/>
            <a:ext cx="73152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Autoavaliação Inflacionada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Alunos se avaliam 2.2 pontos acima do desempenho real (IAA 8.27 vs IDA 6.09).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📊 Perfil de Defasagem (IAN)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À frente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2286000" y="1463040"/>
            <a:ext cx="3834994" cy="3657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6212434" y="13716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CAF50"/>
                </a:solidFill>
                <a:latin typeface="Arial"/>
                <a:ea typeface="Arial"/>
                <a:cs typeface="Arial"/>
                <a:sym typeface="Arial"/>
              </a:rPr>
              <a:t>69.9%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Adequado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2286000" y="2377440"/>
            <a:ext cx="1574597" cy="365760"/>
          </a:xfrm>
          <a:prstGeom prst="rect">
            <a:avLst/>
          </a:prstGeom>
          <a:solidFill>
            <a:srgbClr val="2E50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3952037" y="22860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07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E5077"/>
                </a:solidFill>
                <a:latin typeface="Arial"/>
                <a:ea typeface="Arial"/>
                <a:cs typeface="Arial"/>
                <a:sym typeface="Arial"/>
              </a:rPr>
              <a:t>28.7%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457200" y="32004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Defasado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2286000" y="3291840"/>
            <a:ext cx="76810" cy="3657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2454250" y="3200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53935"/>
                </a:solidFill>
                <a:latin typeface="Arial"/>
                <a:ea typeface="Arial"/>
                <a:cs typeface="Arial"/>
                <a:sym typeface="Arial"/>
              </a:rPr>
              <a:t>1.4%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4CAF50"/>
          </a:solidFill>
          <a:ln>
            <a:noFill/>
          </a:ln>
          <a:effectLst>
            <a:outerShdw blurRad="76200" rotWithShape="0" algn="bl" dir="162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✅ O programa demonstra alta eficácia: apenas 1.4% dos alunos apresentam defasagem real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🤖 Modelo Preditivo de Risco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"/>
          <p:cNvSpPr/>
          <p:nvPr/>
        </p:nvSpPr>
        <p:spPr>
          <a:xfrm>
            <a:off x="457200" y="1097280"/>
            <a:ext cx="3840480" cy="182880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"/>
          <p:cNvSpPr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Gradient Boosting Classifier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640080" y="17373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Acurácia: 80.2%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640080" y="21031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ROC-AUC: 0.813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640080" y="24688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F1-Score: 0.61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Importância das Features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4572000" y="150876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IPV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5303520" y="1581912"/>
            <a:ext cx="2446934" cy="201168"/>
          </a:xfrm>
          <a:prstGeom prst="rect">
            <a:avLst/>
          </a:prstGeom>
          <a:solidFill>
            <a:srgbClr val="2E50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7841894" y="150876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07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E5077"/>
                </a:solidFill>
                <a:latin typeface="Arial"/>
                <a:ea typeface="Arial"/>
                <a:cs typeface="Arial"/>
                <a:sym typeface="Arial"/>
              </a:rPr>
              <a:t>44.6%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4572000" y="185623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IEG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5303520" y="1929384"/>
            <a:ext cx="1585570" cy="201168"/>
          </a:xfrm>
          <a:prstGeom prst="rect">
            <a:avLst/>
          </a:prstGeom>
          <a:solidFill>
            <a:srgbClr val="2E50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6980530" y="185623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07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E5077"/>
                </a:solidFill>
                <a:latin typeface="Arial"/>
                <a:ea typeface="Arial"/>
                <a:cs typeface="Arial"/>
                <a:sym typeface="Arial"/>
              </a:rPr>
              <a:t>28.9%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4572000" y="2203704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5303520" y="2276856"/>
            <a:ext cx="630936" cy="201168"/>
          </a:xfrm>
          <a:prstGeom prst="rect">
            <a:avLst/>
          </a:prstGeom>
          <a:solidFill>
            <a:srgbClr val="2E50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6025896" y="2203704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07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E5077"/>
                </a:solidFill>
                <a:latin typeface="Arial"/>
                <a:ea typeface="Arial"/>
                <a:cs typeface="Arial"/>
                <a:sym typeface="Arial"/>
              </a:rPr>
              <a:t>11.5%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4572000" y="2551176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5303520" y="2624328"/>
            <a:ext cx="340157" cy="201168"/>
          </a:xfrm>
          <a:prstGeom prst="rect">
            <a:avLst/>
          </a:prstGeom>
          <a:solidFill>
            <a:srgbClr val="2E50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5735117" y="2551176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07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E5077"/>
                </a:solidFill>
                <a:latin typeface="Arial"/>
                <a:ea typeface="Arial"/>
                <a:cs typeface="Arial"/>
                <a:sym typeface="Arial"/>
              </a:rPr>
              <a:t>6.2%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4572000" y="289864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IAA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5303520" y="2971800"/>
            <a:ext cx="181051" cy="201168"/>
          </a:xfrm>
          <a:prstGeom prst="rect">
            <a:avLst/>
          </a:prstGeom>
          <a:solidFill>
            <a:srgbClr val="2E50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5576011" y="289864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07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E5077"/>
                </a:solidFill>
                <a:latin typeface="Arial"/>
                <a:ea typeface="Arial"/>
                <a:cs typeface="Arial"/>
                <a:sym typeface="Arial"/>
              </a:rPr>
              <a:t>3.3%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Níveis de Risco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457200" y="3611880"/>
            <a:ext cx="2651760" cy="731520"/>
          </a:xfrm>
          <a:prstGeom prst="rect">
            <a:avLst/>
          </a:prstGeom>
          <a:solidFill>
            <a:srgbClr val="4CAF50"/>
          </a:solidFill>
          <a:ln>
            <a:noFill/>
          </a:ln>
          <a:effectLst>
            <a:outerShdw blurRad="76200" rotWithShape="0" algn="bl" dir="162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457200" y="37490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🟢 Baixo: &lt; 35%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3291840" y="3611880"/>
            <a:ext cx="2651760" cy="73152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76200" rotWithShape="0" algn="bl" dir="162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3291840" y="37490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🟡 Médio: 35-60%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6126480" y="3611880"/>
            <a:ext cx="2651760" cy="731520"/>
          </a:xfrm>
          <a:prstGeom prst="rect">
            <a:avLst/>
          </a:prstGeom>
          <a:solidFill>
            <a:srgbClr val="E53935"/>
          </a:solidFill>
          <a:ln>
            <a:noFill/>
          </a:ln>
          <a:effectLst>
            <a:outerShdw blurRad="76200" rotWithShape="0" algn="bl" dir="162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6126480" y="37490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🔴 Alto: &gt; 60%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💻 Aplicação Streamlit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457200" y="1188720"/>
            <a:ext cx="4023360" cy="118872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76200" rotWithShape="0" algn="bl" dir="162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594360" y="14173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1188720" y="13716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Predição Individual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1188720" y="173736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Calcule o risco de qualquer aluno inserindo seus indicadores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4663440" y="1188720"/>
            <a:ext cx="4023360" cy="118872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76200" rotWithShape="0" algn="bl" dir="162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4800600" y="14173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5394960" y="13716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Análise em Lote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5394960" y="173736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Upload de planilha para análise de múltiplos alunos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457200" y="2560320"/>
            <a:ext cx="4023360" cy="118872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76200" rotWithShape="0" algn="bl" dir="162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594360" y="27889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1188720" y="27432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Dashboard Analítico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1188720" y="310896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Visualizações interativas dos dados e insights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4663440" y="2560320"/>
            <a:ext cx="4023360" cy="118872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76200" rotWithShape="0" algn="bl" dir="162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4800600" y="27889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📥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5394960" y="27432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Exportação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5394960" y="310896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Download de relatórios e lista de alunos em risco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🌐 Acesse: passosmagicos-datathon.streamlit.app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📋 Recomendações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457200" y="123444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1097280" y="11430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Sistema de Alerta Precoce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1097280" y="14630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Implementar o modelo preditivo para identificar alunos em risco antes que a defasagem se agrave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457200" y="205740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1097280" y="19659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Foco em Engajamento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1097280" y="228600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Criar ações específicas para elevar o IEG, principal preditor de sucesso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457200" y="28803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1097280" y="2788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Atenção à Fase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1097280" y="310896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Reforçar acompanhamento na fase com maior concentração de Quartzo (30.4%)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457200" y="370332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1097280" y="36118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Trabalho de Metacognição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1097280" y="393192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Alinhar autoavaliação (IAA) com desempenho real (IDA) através de feedback estruturado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🔮 Conclusão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✅ A Passos Mágicos demonstra alta eficácia: 69.9% dos alunos acima do nível esperado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✅ Engajamento (IEG) é o fator mais influente no desenvolvimento educacional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✅ Modelo preditivo com 80.2% de acurácia permite intervenção precoce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✅ Aplicação Streamlit disponibiliza o modelo para uso prático da equipe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1828800" y="3840480"/>
            <a:ext cx="5486400" cy="73152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76200" rotWithShape="0" algn="bl" dir="162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1828800" y="39776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Transformando dados em ações para mudar vidas! 🌟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Obrigado!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🔮 Passos Mágicos + Data Analytics = Transformação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3200400" y="3017520"/>
            <a:ext cx="27432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📊 GitHub: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https://github.com/DaniloCanali/datathon_passos_magicos</a:t>
            </a:r>
            <a:endParaRPr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💻 App: </a:t>
            </a:r>
            <a:r>
              <a:rPr lang="en-US">
                <a:solidFill>
                  <a:srgbClr val="FFFFFF"/>
                </a:solidFill>
              </a:rPr>
              <a:t>https://datathonpaappsmagicos-wijkucagk5k2xosfgnjhpl.streamlit.app/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Datathon PosTech FIAP - Data Analytics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